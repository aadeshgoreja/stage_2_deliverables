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Elbow Method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Inertia (WCSS)</c:v>
                </c:pt>
              </c:strCache>
            </c:strRef>
          </c:tx>
          <c:spPr>
            <a:solidFill>
              <a:srgbClr val="3B6FA0"/>
            </a:solidFill>
            <a:ln w="31750" cap="flat">
              <a:solidFill>
                <a:srgbClr val="3B6F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B6FA0"/>
              </a:solidFill>
              <a:ln w="9525" cap="flat">
                <a:solidFill>
                  <a:srgbClr val="3B6F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26851.09</c:v>
                </c:pt>
                <c:pt idx="1">
                  <c:v>21062.71</c:v>
                </c:pt>
                <c:pt idx="2">
                  <c:v>17868.45</c:v>
                </c:pt>
                <c:pt idx="3">
                  <c:v>16222.89</c:v>
                </c:pt>
                <c:pt idx="4">
                  <c:v>14871.95</c:v>
                </c:pt>
                <c:pt idx="5">
                  <c:v>13834.32</c:v>
                </c:pt>
                <c:pt idx="6">
                  <c:v>13052.13</c:v>
                </c:pt>
                <c:pt idx="7">
                  <c:v>12598.4</c:v>
                </c:pt>
                <c:pt idx="8">
                  <c:v>12239.41</c:v>
                </c:pt>
                <c:pt idx="9">
                  <c:v>11727.71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280"/>
                    </a:solidFill>
                    <a:latin typeface="Arial"/>
                  </a:rPr>
                  <a:t>K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280"/>
                    </a:solidFill>
                    <a:latin typeface="Arial"/>
                  </a:rPr>
                  <a:t>Inertia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Silhouette Score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 Score</c:v>
                </c:pt>
              </c:strCache>
            </c:strRef>
          </c:tx>
          <c:spPr>
            <a:solidFill>
              <a:srgbClr val="2E7D5B"/>
            </a:solidFill>
            <a:ln w="31750" cap="flat">
              <a:solidFill>
                <a:srgbClr val="2E7D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E7D5B"/>
              </a:solidFill>
              <a:ln w="9525" cap="flat">
                <a:solidFill>
                  <a:srgbClr val="2E7D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0.1975</c:v>
                </c:pt>
                <c:pt idx="1">
                  <c:v>0.1841</c:v>
                </c:pt>
                <c:pt idx="2">
                  <c:v>0.1701</c:v>
                </c:pt>
                <c:pt idx="3">
                  <c:v>0.1718</c:v>
                </c:pt>
                <c:pt idx="4">
                  <c:v>0.1708</c:v>
                </c:pt>
                <c:pt idx="5">
                  <c:v>0.1698</c:v>
                </c:pt>
                <c:pt idx="6">
                  <c:v>0.1638</c:v>
                </c:pt>
                <c:pt idx="7">
                  <c:v>0.17</c:v>
                </c:pt>
                <c:pt idx="8">
                  <c:v>0.165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280"/>
                    </a:solidFill>
                    <a:latin typeface="Arial"/>
                  </a:rPr>
                  <a:t>K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280"/>
                    </a:solidFill>
                    <a:latin typeface="Arial"/>
                  </a:rPr>
                  <a:t>Score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8C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6FA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D5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Cluster 3
At-Risk New High-Spend</c:v>
                  </c:pt>
                  <c:pt idx="1">
                    <c:v>Cluster 0
New, Budget-Conscious</c:v>
                  </c:pt>
                  <c:pt idx="2">
                    <c:v>Cluster 2
High-Value Established</c:v>
                  </c:pt>
                  <c:pt idx="3">
                    <c:v>Cluster 1
Loyal Long-Tenure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48.8</c:v>
                </c:pt>
                <c:pt idx="1">
                  <c:v>24.8</c:v>
                </c:pt>
                <c:pt idx="2">
                  <c:v>15.7</c:v>
                </c:pt>
                <c:pt idx="3">
                  <c:v>4.8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8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280"/>
                    </a:solidFill>
                    <a:latin typeface="Arial"/>
                  </a:rPr>
                  <a:t>Churn Rate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ANALYSIS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Segmentation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 Telecommunications Company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— 6,741 customers — 4 behavioural segments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21945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92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Adesh Kumar  |  Data Analyst — Clustering Analysis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257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set out to 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5" name="Image 0" descr="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" y="175381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002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&amp; apply K-Means clustering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08760" y="198424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customers by behaviour and demographics, not by whether they already churned.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743200"/>
            <a:ext cx="640080" cy="640080"/>
          </a:xfrm>
          <a:prstGeom prst="ellipse">
            <a:avLst/>
          </a:prstGeom>
          <a:solidFill>
            <a:srgbClr val="3B6FA0"/>
          </a:solidFill>
          <a:ln/>
        </p:spPr>
      </p:sp>
      <p:pic>
        <p:nvPicPr>
          <p:cNvPr id="9" name="Image 1" descr="icons/ch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" y="289681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7432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optimal clusters via the Elbow Method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508760" y="312724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with Silhouette Score for a statistically defensible choice of k.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886200"/>
            <a:ext cx="640080" cy="64008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3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4039819"/>
            <a:ext cx="332842" cy="33284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8862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and label clusters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508760" y="427024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cluster numbers into interpretable, business-ready customer segments.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869680" y="1600200"/>
            <a:ext cx="2651760" cy="4251960"/>
          </a:xfrm>
          <a:prstGeom prst="roundRect">
            <a:avLst>
              <a:gd name="adj" fmla="val 4138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869680" y="18288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6,741</a:t>
            </a:r>
            <a:endParaRPr lang="en-US" sz="3800" dirty="0"/>
          </a:p>
        </p:txBody>
      </p:sp>
      <p:sp>
        <p:nvSpPr>
          <p:cNvPr id="18" name="Text 13"/>
          <p:cNvSpPr/>
          <p:nvPr/>
        </p:nvSpPr>
        <p:spPr>
          <a:xfrm>
            <a:off x="8869680" y="25786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analysed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144000" y="3063240"/>
            <a:ext cx="210312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869680" y="32004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1" name="Text 16"/>
          <p:cNvSpPr/>
          <p:nvPr/>
        </p:nvSpPr>
        <p:spPr>
          <a:xfrm>
            <a:off x="8869680" y="3840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 identified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144000" y="4343400"/>
            <a:ext cx="210312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869680" y="4480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24" name="Text 19"/>
          <p:cNvSpPr/>
          <p:nvPr/>
        </p:nvSpPr>
        <p:spPr>
          <a:xfrm>
            <a:off x="8869680" y="501091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 in clustering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Clustering Analysis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Features &amp; Algorithm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was applied to 12 standardised customer features, grouped into four categories. The Churn label was deliberately excluded from clustering — kept aside only to interpret the resulting segments.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2171700"/>
            <a:ext cx="594360" cy="594360"/>
          </a:xfrm>
          <a:prstGeom prst="ellipse">
            <a:avLst/>
          </a:prstGeom>
          <a:solidFill>
            <a:srgbClr val="3B6FA0"/>
          </a:solidFill>
          <a:ln/>
        </p:spPr>
      </p:sp>
      <p:pic>
        <p:nvPicPr>
          <p:cNvPr id="6" name="Image 0" descr="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2846" y="231434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926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3832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39502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SeniorCitizen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4517136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0" y="187452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2171700"/>
            <a:ext cx="594360" cy="59436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3" name="Image 1" descr="icons/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926" y="2314346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2926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57600" y="33832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(standardised)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0" y="187452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452360" y="2171700"/>
            <a:ext cx="594360" cy="594360"/>
          </a:xfrm>
          <a:prstGeom prst="ellipse">
            <a:avLst/>
          </a:prstGeom>
          <a:solidFill>
            <a:srgbClr val="D98C3D"/>
          </a:solidFill>
          <a:ln/>
        </p:spPr>
      </p:sp>
      <p:pic>
        <p:nvPicPr>
          <p:cNvPr id="18" name="Image 2" descr="icons/cha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5006" y="2314346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37960" y="2926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583680" y="33832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PhoneService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583680" y="39502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MultipleLines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583680" y="4517136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InternetService (DSL / Fiber)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9326880" y="1874520"/>
            <a:ext cx="2697480" cy="3566160"/>
          </a:xfrm>
          <a:prstGeom prst="roundRect">
            <a:avLst>
              <a:gd name="adj" fmla="val 3390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0378440" y="2171700"/>
            <a:ext cx="594360" cy="5943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5" name="Image 3" descr="icons/doll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1086" y="2314346"/>
            <a:ext cx="309067" cy="30906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464040" y="2926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Contract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509760" y="33832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MonthlyCharges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9509760" y="39502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(Month-to-month / One year / Two year)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Clustering Analysis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Determining the Optimal Number of Clusters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(WCSS) &amp; Silhouette Score across k = 1–10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172200" y="141732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00100" y="5344668"/>
            <a:ext cx="502920" cy="50292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8" name="Image 0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801" y="5465369"/>
            <a:ext cx="261518" cy="26151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63040" y="525780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4 selected.  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 flattens sharply after k=4 (elbow bend). Silhouette peaks at k=2 (a trivial split) then stabilises ≈ 0.17 from k=4 onward — confirming 4 as the best balance of statistical separation and interpretability.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Clustering Analysis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Segments — PCA Projection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6,741 customers, reduced to 2 dimensions via PCA (49.8% of variance explained)</a:t>
            </a:r>
            <a:endParaRPr lang="en-US" sz="1300" dirty="0"/>
          </a:p>
        </p:txBody>
      </p:sp>
      <p:pic>
        <p:nvPicPr>
          <p:cNvPr id="4" name="Image 0" descr="pca_scatter_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1448" y="1417320"/>
            <a:ext cx="7315200" cy="5038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Clustering Analysis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behaviourally distinct customer segments emerged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97480" cy="4480560"/>
          </a:xfrm>
          <a:prstGeom prst="roundRect">
            <a:avLst>
              <a:gd name="adj" fmla="val 3390"/>
            </a:avLst>
          </a:prstGeom>
          <a:solidFill>
            <a:srgbClr val="F4F6FB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New High-Spend Customers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48.8%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4069080"/>
            <a:ext cx="19659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2062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2,146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46177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(31.8%)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97280" y="512064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1206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47288" y="1508760"/>
            <a:ext cx="2697480" cy="4480560"/>
          </a:xfrm>
          <a:prstGeom prst="roundRect">
            <a:avLst>
              <a:gd name="adj" fmla="val 3390"/>
            </a:avLst>
          </a:prstGeom>
          <a:solidFill>
            <a:srgbClr val="F4F6FB"/>
          </a:solidFill>
          <a:ln w="19050">
            <a:solidFill>
              <a:srgbClr val="D98C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47288" y="150876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D98C3D"/>
          </a:solidFill>
          <a:ln/>
        </p:spPr>
      </p:sp>
      <p:sp>
        <p:nvSpPr>
          <p:cNvPr id="17" name="Text 15"/>
          <p:cNvSpPr/>
          <p:nvPr/>
        </p:nvSpPr>
        <p:spPr>
          <a:xfrm>
            <a:off x="3447288" y="15087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84448" y="214884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Budget-Conscious Customers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47288" y="301752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8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24.8%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3447288" y="36576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13048" y="4069080"/>
            <a:ext cx="19659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47288" y="42062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1,589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447288" y="46177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(23.6%)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95928" y="512064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D98C3D"/>
          </a:solidFill>
          <a:ln/>
        </p:spPr>
      </p:sp>
      <p:sp>
        <p:nvSpPr>
          <p:cNvPr id="25" name="Text 23"/>
          <p:cNvSpPr/>
          <p:nvPr/>
        </p:nvSpPr>
        <p:spPr>
          <a:xfrm>
            <a:off x="3995928" y="51206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45936" y="1508760"/>
            <a:ext cx="2697480" cy="4480560"/>
          </a:xfrm>
          <a:prstGeom prst="roundRect">
            <a:avLst>
              <a:gd name="adj" fmla="val 3390"/>
            </a:avLst>
          </a:prstGeom>
          <a:solidFill>
            <a:srgbClr val="F4F6FB"/>
          </a:solidFill>
          <a:ln w="19050">
            <a:solidFill>
              <a:srgbClr val="3B6F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45936" y="150876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3B6FA0"/>
          </a:solidFill>
          <a:ln/>
        </p:spPr>
      </p:sp>
      <p:sp>
        <p:nvSpPr>
          <p:cNvPr id="28" name="Text 26"/>
          <p:cNvSpPr/>
          <p:nvPr/>
        </p:nvSpPr>
        <p:spPr>
          <a:xfrm>
            <a:off x="6345936" y="15087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83096" y="214884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Established Customers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45936" y="301752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6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15.7%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6345936" y="36576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11696" y="4069080"/>
            <a:ext cx="19659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45936" y="42062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1,882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345936" y="46177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(27.9%)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94576" y="512064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3B6FA0"/>
          </a:solidFill>
          <a:ln/>
        </p:spPr>
      </p:sp>
      <p:sp>
        <p:nvSpPr>
          <p:cNvPr id="36" name="Text 34"/>
          <p:cNvSpPr/>
          <p:nvPr/>
        </p:nvSpPr>
        <p:spPr>
          <a:xfrm>
            <a:off x="6894576" y="51206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LOW–MEDIUM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244584" y="1508760"/>
            <a:ext cx="2697480" cy="4480560"/>
          </a:xfrm>
          <a:prstGeom prst="roundRect">
            <a:avLst>
              <a:gd name="adj" fmla="val 3390"/>
            </a:avLst>
          </a:prstGeom>
          <a:solidFill>
            <a:srgbClr val="F4F6FB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44584" y="1508760"/>
            <a:ext cx="2697480" cy="502920"/>
          </a:xfrm>
          <a:prstGeom prst="roundRect">
            <a:avLst>
              <a:gd name="adj" fmla="val 18182"/>
            </a:avLst>
          </a:prstGeom>
          <a:solidFill>
            <a:srgbClr val="2E7D5B"/>
          </a:solidFill>
          <a:ln/>
        </p:spPr>
      </p:sp>
      <p:sp>
        <p:nvSpPr>
          <p:cNvPr id="39" name="Text 37"/>
          <p:cNvSpPr/>
          <p:nvPr/>
        </p:nvSpPr>
        <p:spPr>
          <a:xfrm>
            <a:off x="9244584" y="15087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381744" y="214884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Long-Tenure Customers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244584" y="301752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4.8%</a:t>
            </a:r>
            <a:endParaRPr lang="en-US" sz="3400" dirty="0"/>
          </a:p>
        </p:txBody>
      </p:sp>
      <p:sp>
        <p:nvSpPr>
          <p:cNvPr id="42" name="Text 40"/>
          <p:cNvSpPr/>
          <p:nvPr/>
        </p:nvSpPr>
        <p:spPr>
          <a:xfrm>
            <a:off x="9244584" y="36576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610344" y="4069080"/>
            <a:ext cx="19659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44584" y="42062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1,124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9244584" y="46177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(16.7%)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793224" y="512064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47" name="Text 45"/>
          <p:cNvSpPr/>
          <p:nvPr/>
        </p:nvSpPr>
        <p:spPr>
          <a:xfrm>
            <a:off x="9793224" y="51206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Clustering Analysis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3 — “At-Risk New High-Spend Customers”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378440" y="411480"/>
            <a:ext cx="1280160" cy="411480"/>
          </a:xfrm>
          <a:prstGeom prst="roundRect">
            <a:avLst>
              <a:gd name="adj" fmla="val 48889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10378440" y="4114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critical cluster and the largest segment in the customer base. Short-tenure customers who already pay above-average charges — and carry the highest churn risk by far.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6949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tenure — well below the customer-base average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Above-average monthly charges despite the short relationship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Senior Citizen share of any cluster — 24.3%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share with dependents — 18.1% (mostly individual customers)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2,146 customers — 31.8% of total base (largest segment)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694944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736592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502920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the highest churn rate with the largest customer count — driving the majority of lost revenue. Urgent priority for retention.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18120" y="1051560"/>
            <a:ext cx="3794760" cy="4983480"/>
          </a:xfrm>
          <a:prstGeom prst="roundRect">
            <a:avLst>
              <a:gd name="adj" fmla="val 2892"/>
            </a:avLst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7818120" y="146304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48.8%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7818120" y="24231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21040" y="2971800"/>
            <a:ext cx="278892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8120" y="315468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2,146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818120" y="37490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(31.8% of base)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21040" y="4251960"/>
            <a:ext cx="278892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443484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18120" y="470916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441180" y="53492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0" descr="icons/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2854" y="5480914"/>
            <a:ext cx="285293" cy="285293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Clustering Analysis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8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0 — “New, Budget-Conscious Customers”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customers paying the lowest monthly charges of any group, with short tenure and a fairly even mix of contract types.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6949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tenure — below the customer-base average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monthly charges of all clusters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Senior Citizen share — 7.2%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contracts — about half (50.8%) month-to-month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1,589 customers — 23.6% of total base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4617720"/>
            <a:ext cx="694944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 w="12700">
            <a:solidFill>
              <a:srgbClr val="D98C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736592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502920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Price-sensitive and still forming loyalty. Focus on onboarding and incentives to move them onto longer contracts.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18120" y="1051560"/>
            <a:ext cx="3794760" cy="4983480"/>
          </a:xfrm>
          <a:prstGeom prst="roundRect">
            <a:avLst>
              <a:gd name="adj" fmla="val 2892"/>
            </a:avLst>
          </a:prstGeom>
          <a:solidFill>
            <a:srgbClr val="D98C3D"/>
          </a:solidFill>
          <a:ln/>
        </p:spPr>
      </p:sp>
      <p:sp>
        <p:nvSpPr>
          <p:cNvPr id="10" name="Text 8"/>
          <p:cNvSpPr/>
          <p:nvPr/>
        </p:nvSpPr>
        <p:spPr>
          <a:xfrm>
            <a:off x="7818120" y="146304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24.8%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7818120" y="24231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2971800"/>
            <a:ext cx="278892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315468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1,589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818120" y="37490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(23.6% of base)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21040" y="4251960"/>
            <a:ext cx="278892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443484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18120" y="470916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441180" y="53492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0" descr="icons/he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2854" y="5480914"/>
            <a:ext cx="285293" cy="285293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Clustering Analysis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6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2 — “High-Value Established Customers”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stable, established base with the longest average tenure and the highest monthly charges of any cluster.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6949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average tenure of all clusters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monthly charges of all clusters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Senior Citizen share — 21.7%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universal phone service — 99.7%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1,882 customers — 27.9% of total base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4617720"/>
            <a:ext cx="694944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 w="12700">
            <a:solidFill>
              <a:srgbClr val="3B6F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736592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502920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valuable, long-standing segment. Maintain service quality and offer senior-specific perks to protect this revenue base.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18120" y="1051560"/>
            <a:ext cx="3794760" cy="4983480"/>
          </a:xfrm>
          <a:prstGeom prst="roundRect">
            <a:avLst>
              <a:gd name="adj" fmla="val 2892"/>
            </a:avLst>
          </a:prstGeom>
          <a:solidFill>
            <a:srgbClr val="3B6FA0"/>
          </a:solidFill>
          <a:ln/>
        </p:spPr>
      </p:sp>
      <p:sp>
        <p:nvSpPr>
          <p:cNvPr id="10" name="Text 8"/>
          <p:cNvSpPr/>
          <p:nvPr/>
        </p:nvSpPr>
        <p:spPr>
          <a:xfrm>
            <a:off x="7818120" y="146304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15.7%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7818120" y="24231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2971800"/>
            <a:ext cx="278892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315468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1,882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818120" y="37490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(27.9% of base)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21040" y="4251960"/>
            <a:ext cx="278892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443484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18120" y="470916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LOW–MEDIUM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441180" y="53492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0" descr="icons/he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2854" y="5480914"/>
            <a:ext cx="285293" cy="285293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Clustering Analysis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1 — “Loyal Long-Tenure Customers”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loyal segment by far — long tenure, below-average charges, and the highest share of customers with dependents.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6949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loyal group — lowest churn rate of all clusters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average tenure — well above the customer-base average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Below-average monthly charges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share with dependents — 44.8%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1,124 customers — 16.7% of total base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4617720"/>
            <a:ext cx="694944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736592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502920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stable, reliable source of long-term revenue. Reward with loyalty programmes and family bundles — requires the least intervention.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18120" y="1051560"/>
            <a:ext cx="3794760" cy="4983480"/>
          </a:xfrm>
          <a:prstGeom prst="roundRect">
            <a:avLst>
              <a:gd name="adj" fmla="val 2892"/>
            </a:avLst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7818120" y="146304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4.8%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7818120" y="24231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2971800"/>
            <a:ext cx="278892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315468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1,124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818120" y="37490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(16.7% of base)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21040" y="4251960"/>
            <a:ext cx="278892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443484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18120" y="470916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9441180" y="53492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0" descr="icons/he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2854" y="5480914"/>
            <a:ext cx="285293" cy="285293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Clustering Analysis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Rate by Cluster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clearest actionable signal in this analysis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3152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73736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F4F6FB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578340" y="1988820"/>
            <a:ext cx="685800" cy="6858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7" name="Image 0" descr="icons/warn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2932" y="2153412"/>
            <a:ext cx="356616" cy="3566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12480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average churn: 26.6%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412480" y="333756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 churns at </a:t>
            </a:r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rate of Cluster 1 (48.8% vs 4.8%) — and is also the largest single segment.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549640" y="4709160"/>
            <a:ext cx="27432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412480" y="48920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single cluster represents the greatest revenue risk in the portfolio.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Clustering Analysis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actions, ranked by segment urgency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00784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00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581912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Cluster 3 first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760720" y="1581912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proactive retention campaigns for at-risk, new high-spend customers — the top priority.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7802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670048"/>
            <a:ext cx="457200" cy="457200"/>
          </a:xfrm>
          <a:prstGeom prst="ellipse">
            <a:avLst/>
          </a:prstGeom>
          <a:solidFill>
            <a:srgbClr val="D98C3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551176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Senior-specific plans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760720" y="2551176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senior-tailored pricing &amp; support, given the high senior share in Clusters 2 and 3.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447288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639312"/>
            <a:ext cx="457200" cy="457200"/>
          </a:xfrm>
          <a:prstGeom prst="ellipse">
            <a:avLst/>
          </a:prstGeom>
          <a:solidFill>
            <a:srgbClr val="3B6FA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39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5204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onboarding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760720" y="352044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early-tenure engagement for Clusters 0 and 3 to build loyalty sooner.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41655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608576"/>
            <a:ext cx="457200" cy="45720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608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4489704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Incentivise longer contracts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760720" y="4489704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long-term contract discounts to shift customers off month-to-month plans.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385816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577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577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7320" y="5458968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loyal segments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760720" y="5458968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service quality for Clusters 1 and 2; reinforce with family bundle offers for Cluster 1.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Clustering Analysis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21945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Adesh Kumar  |  Data Analyst — Clustering Analysis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2026-09-13T08:34:01Z</dcterms:created>
  <dcterms:modified xsi:type="dcterms:W3CDTF">2026-09-13T08:34:01Z</dcterms:modified>
</cp:coreProperties>
</file>